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Open Sans" panose="020B0606030504020204" pitchFamily="34" charset="0"/>
      <p:regular r:id="rId19"/>
    </p:embeddedFont>
    <p:embeddedFont>
      <p:font typeface="Open Sans Bold" panose="020B0806030504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22730-DF16-4ABD-9F8F-44E17DB8955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987E0-400C-4B59-BBF7-569631A32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52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987E0-400C-4B59-BBF7-569631A325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39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3.emnlp-main.315" TargetMode="External"/><Relationship Id="rId2" Type="http://schemas.openxmlformats.org/officeDocument/2006/relationships/hyperlink" Target="https://link.springer.com/chapter/10.1007/978-3-030-79457-6_35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2200/S00416ED1V01Y201204HLT016" TargetMode="External"/><Relationship Id="rId5" Type="http://schemas.openxmlformats.org/officeDocument/2006/relationships/hyperlink" Target="https://doi.org/10.1162/tacl_a_00051" TargetMode="External"/><Relationship Id="rId4" Type="http://schemas.openxmlformats.org/officeDocument/2006/relationships/hyperlink" Target="https://github.com/undertheseanlp/underthesea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15603" y="8814186"/>
            <a:ext cx="643928" cy="642843"/>
          </a:xfrm>
          <a:custGeom>
            <a:avLst/>
            <a:gdLst/>
            <a:ahLst/>
            <a:cxnLst/>
            <a:rect l="l" t="t" r="r" b="b"/>
            <a:pathLst>
              <a:path w="643928" h="642843">
                <a:moveTo>
                  <a:pt x="0" y="0"/>
                </a:moveTo>
                <a:lnTo>
                  <a:pt x="643928" y="0"/>
                </a:lnTo>
                <a:lnTo>
                  <a:pt x="643928" y="642842"/>
                </a:lnTo>
                <a:lnTo>
                  <a:pt x="0" y="642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05" b="-140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38053" y="8591041"/>
            <a:ext cx="1234960" cy="779975"/>
          </a:xfrm>
          <a:custGeom>
            <a:avLst/>
            <a:gdLst/>
            <a:ahLst/>
            <a:cxnLst/>
            <a:rect l="l" t="t" r="r" b="b"/>
            <a:pathLst>
              <a:path w="1234960" h="779975">
                <a:moveTo>
                  <a:pt x="0" y="0"/>
                </a:moveTo>
                <a:lnTo>
                  <a:pt x="1234960" y="0"/>
                </a:lnTo>
                <a:lnTo>
                  <a:pt x="1234960" y="779975"/>
                </a:lnTo>
                <a:lnTo>
                  <a:pt x="0" y="779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33320" y="1565693"/>
            <a:ext cx="2648669" cy="2991909"/>
          </a:xfrm>
          <a:custGeom>
            <a:avLst/>
            <a:gdLst/>
            <a:ahLst/>
            <a:cxnLst/>
            <a:rect l="l" t="t" r="r" b="b"/>
            <a:pathLst>
              <a:path w="2648669" h="2991909">
                <a:moveTo>
                  <a:pt x="0" y="0"/>
                </a:moveTo>
                <a:lnTo>
                  <a:pt x="2648669" y="0"/>
                </a:lnTo>
                <a:lnTo>
                  <a:pt x="2648669" y="2991909"/>
                </a:lnTo>
                <a:lnTo>
                  <a:pt x="0" y="29919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215675" y="3848762"/>
            <a:ext cx="905029" cy="2051058"/>
          </a:xfrm>
          <a:custGeom>
            <a:avLst/>
            <a:gdLst/>
            <a:ahLst/>
            <a:cxnLst/>
            <a:rect l="l" t="t" r="r" b="b"/>
            <a:pathLst>
              <a:path w="905029" h="2051058">
                <a:moveTo>
                  <a:pt x="0" y="0"/>
                </a:moveTo>
                <a:lnTo>
                  <a:pt x="905030" y="0"/>
                </a:lnTo>
                <a:lnTo>
                  <a:pt x="905030" y="2051058"/>
                </a:lnTo>
                <a:lnTo>
                  <a:pt x="0" y="20510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753601" y="1671613"/>
            <a:ext cx="12222809" cy="422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49"/>
              </a:lnSpc>
              <a:spcBef>
                <a:spcPct val="0"/>
              </a:spcBef>
            </a:pPr>
            <a:r>
              <a:rPr lang="en-US" sz="6035" b="1" u="none" strike="noStrike" spc="-12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PHÂN TÍCH CẢM XÚC</a:t>
            </a:r>
          </a:p>
          <a:p>
            <a:pPr marL="0" lvl="0" indent="0" algn="ctr">
              <a:lnSpc>
                <a:spcPts val="8449"/>
              </a:lnSpc>
              <a:spcBef>
                <a:spcPct val="0"/>
              </a:spcBef>
            </a:pPr>
            <a:r>
              <a:rPr lang="en-US" sz="6035" b="1" u="none" strike="noStrike" spc="-12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NGƯỜI HỌC KẾT HỢP TEENCODE DỰA TRÊN</a:t>
            </a:r>
          </a:p>
          <a:p>
            <a:pPr marL="0" lvl="0" indent="0" algn="ctr">
              <a:lnSpc>
                <a:spcPts val="8449"/>
              </a:lnSpc>
              <a:spcBef>
                <a:spcPct val="0"/>
              </a:spcBef>
            </a:pPr>
            <a:r>
              <a:rPr lang="en-US" sz="6035" b="1" u="none" strike="noStrike" spc="-12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KIẾN TRÚC BERT</a:t>
            </a:r>
          </a:p>
        </p:txBody>
      </p:sp>
      <p:sp>
        <p:nvSpPr>
          <p:cNvPr id="7" name="Freeform 7"/>
          <p:cNvSpPr/>
          <p:nvPr/>
        </p:nvSpPr>
        <p:spPr>
          <a:xfrm>
            <a:off x="3537261" y="4946699"/>
            <a:ext cx="2739975" cy="2817455"/>
          </a:xfrm>
          <a:custGeom>
            <a:avLst/>
            <a:gdLst/>
            <a:ahLst/>
            <a:cxnLst/>
            <a:rect l="l" t="t" r="r" b="b"/>
            <a:pathLst>
              <a:path w="2739975" h="2817455">
                <a:moveTo>
                  <a:pt x="0" y="0"/>
                </a:moveTo>
                <a:lnTo>
                  <a:pt x="2739975" y="0"/>
                </a:lnTo>
                <a:lnTo>
                  <a:pt x="2739975" y="2817455"/>
                </a:lnTo>
                <a:lnTo>
                  <a:pt x="0" y="28174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959800" y="4741890"/>
            <a:ext cx="3265490" cy="3227072"/>
          </a:xfrm>
          <a:custGeom>
            <a:avLst/>
            <a:gdLst/>
            <a:ahLst/>
            <a:cxnLst/>
            <a:rect l="l" t="t" r="r" b="b"/>
            <a:pathLst>
              <a:path w="3265490" h="3227072">
                <a:moveTo>
                  <a:pt x="0" y="0"/>
                </a:moveTo>
                <a:lnTo>
                  <a:pt x="3265489" y="0"/>
                </a:lnTo>
                <a:lnTo>
                  <a:pt x="3265489" y="3227072"/>
                </a:lnTo>
                <a:lnTo>
                  <a:pt x="0" y="32270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165649" y="2339481"/>
            <a:ext cx="743223" cy="535121"/>
          </a:xfrm>
          <a:custGeom>
            <a:avLst/>
            <a:gdLst/>
            <a:ahLst/>
            <a:cxnLst/>
            <a:rect l="l" t="t" r="r" b="b"/>
            <a:pathLst>
              <a:path w="743223" h="535121">
                <a:moveTo>
                  <a:pt x="0" y="0"/>
                </a:moveTo>
                <a:lnTo>
                  <a:pt x="743224" y="0"/>
                </a:lnTo>
                <a:lnTo>
                  <a:pt x="743224" y="535121"/>
                </a:lnTo>
                <a:lnTo>
                  <a:pt x="0" y="5351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118173" y="-1514723"/>
            <a:ext cx="4374790" cy="4389325"/>
          </a:xfrm>
          <a:custGeom>
            <a:avLst/>
            <a:gdLst/>
            <a:ahLst/>
            <a:cxnLst/>
            <a:rect l="l" t="t" r="r" b="b"/>
            <a:pathLst>
              <a:path w="4374790" h="4389325">
                <a:moveTo>
                  <a:pt x="0" y="0"/>
                </a:moveTo>
                <a:lnTo>
                  <a:pt x="4374791" y="0"/>
                </a:lnTo>
                <a:lnTo>
                  <a:pt x="4374791" y="4389325"/>
                </a:lnTo>
                <a:lnTo>
                  <a:pt x="0" y="4389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715603" y="4251519"/>
            <a:ext cx="609610" cy="612166"/>
          </a:xfrm>
          <a:custGeom>
            <a:avLst/>
            <a:gdLst/>
            <a:ahLst/>
            <a:cxnLst/>
            <a:rect l="l" t="t" r="r" b="b"/>
            <a:pathLst>
              <a:path w="609610" h="612166">
                <a:moveTo>
                  <a:pt x="0" y="0"/>
                </a:moveTo>
                <a:lnTo>
                  <a:pt x="609611" y="0"/>
                </a:lnTo>
                <a:lnTo>
                  <a:pt x="609611" y="612166"/>
                </a:lnTo>
                <a:lnTo>
                  <a:pt x="0" y="6121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2705320" y="8654276"/>
            <a:ext cx="2962870" cy="48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9"/>
              </a:lnSpc>
            </a:pPr>
            <a:r>
              <a:rPr lang="en-US" sz="2799" spc="13">
                <a:solidFill>
                  <a:srgbClr val="181D2B"/>
                </a:solidFill>
                <a:latin typeface="Open Sans"/>
                <a:ea typeface="Open Sans"/>
                <a:cs typeface="Open Sans"/>
                <a:sym typeface="Open Sans"/>
              </a:rPr>
              <a:t>GVHD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97503" y="9279176"/>
            <a:ext cx="3864106" cy="54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25"/>
              </a:lnSpc>
            </a:pPr>
            <a:r>
              <a:rPr lang="en-US" sz="3160" b="1" spc="15">
                <a:solidFill>
                  <a:srgbClr val="181D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ThS. Trần Thị Dung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25413" y="8292452"/>
            <a:ext cx="3817770" cy="42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 spc="12">
                <a:solidFill>
                  <a:srgbClr val="181D2B"/>
                </a:solidFill>
                <a:latin typeface="Open Sans"/>
                <a:ea typeface="Open Sans"/>
                <a:cs typeface="Open Sans"/>
                <a:sym typeface="Open Sans"/>
              </a:rPr>
              <a:t>Sinh viên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25413" y="8908239"/>
            <a:ext cx="5963671" cy="87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85"/>
              </a:lnSpc>
            </a:pPr>
            <a:r>
              <a:rPr lang="en-US" sz="2560" b="1" spc="12">
                <a:solidFill>
                  <a:srgbClr val="181D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Nguyễn Thị Sương Anh</a:t>
            </a:r>
          </a:p>
          <a:p>
            <a:pPr marL="0" lvl="0" indent="0" algn="l">
              <a:lnSpc>
                <a:spcPts val="3585"/>
              </a:lnSpc>
            </a:pPr>
            <a:r>
              <a:rPr lang="en-US" sz="2560" b="1" spc="12">
                <a:solidFill>
                  <a:srgbClr val="181D2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MSSV 2386400768 · Lớp 23DKHA1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9050" y="556450"/>
            <a:ext cx="6401634" cy="92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7"/>
              </a:lnSpc>
            </a:pPr>
            <a:r>
              <a:rPr lang="en-US" sz="5999" b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Giới Thiệu Đề Tài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1942" y="1671656"/>
            <a:ext cx="4477583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Tổng quan về nghiên cứu</a:t>
            </a:r>
          </a:p>
        </p:txBody>
      </p:sp>
      <p:sp>
        <p:nvSpPr>
          <p:cNvPr id="4" name="Freeform 4" descr="preencoded.png"/>
          <p:cNvSpPr/>
          <p:nvPr/>
        </p:nvSpPr>
        <p:spPr>
          <a:xfrm>
            <a:off x="1009050" y="4013002"/>
            <a:ext cx="5236521" cy="2260997"/>
          </a:xfrm>
          <a:custGeom>
            <a:avLst/>
            <a:gdLst/>
            <a:ahLst/>
            <a:cxnLst/>
            <a:rect l="l" t="t" r="r" b="b"/>
            <a:pathLst>
              <a:path w="5236521" h="2260997">
                <a:moveTo>
                  <a:pt x="0" y="0"/>
                </a:moveTo>
                <a:lnTo>
                  <a:pt x="5236521" y="0"/>
                </a:lnTo>
                <a:lnTo>
                  <a:pt x="5236521" y="2260996"/>
                </a:lnTo>
                <a:lnTo>
                  <a:pt x="0" y="226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10" b="-1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251942" y="4111433"/>
            <a:ext cx="3520230" cy="45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🎯</a:t>
            </a:r>
            <a:r>
              <a:rPr lang="en-US" sz="28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Mục tiêu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1942" y="4650576"/>
            <a:ext cx="4750737" cy="142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Xây dựng giải pháp phân tích cảm xúc sinh viên trên mạng xã hội.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6506613" y="4013002"/>
            <a:ext cx="5236521" cy="2260997"/>
          </a:xfrm>
          <a:custGeom>
            <a:avLst/>
            <a:gdLst/>
            <a:ahLst/>
            <a:cxnLst/>
            <a:rect l="l" t="t" r="r" b="b"/>
            <a:pathLst>
              <a:path w="5236521" h="2260997">
                <a:moveTo>
                  <a:pt x="0" y="0"/>
                </a:moveTo>
                <a:lnTo>
                  <a:pt x="5236521" y="0"/>
                </a:lnTo>
                <a:lnTo>
                  <a:pt x="5236521" y="2260996"/>
                </a:lnTo>
                <a:lnTo>
                  <a:pt x="0" y="226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10" b="-1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872884" y="4120958"/>
            <a:ext cx="3871315" cy="45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📝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Đối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tượng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endParaRPr lang="en-US" sz="2999" dirty="0">
              <a:solidFill>
                <a:srgbClr val="3A3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98614" y="4893464"/>
            <a:ext cx="4409627" cy="936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Văn bản phi chuẩn (Teencode, từ lóng) từ Confession đại học.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12004177" y="4013002"/>
            <a:ext cx="5236664" cy="2260997"/>
          </a:xfrm>
          <a:custGeom>
            <a:avLst/>
            <a:gdLst/>
            <a:ahLst/>
            <a:cxnLst/>
            <a:rect l="l" t="t" r="r" b="b"/>
            <a:pathLst>
              <a:path w="5236664" h="2260997">
                <a:moveTo>
                  <a:pt x="0" y="0"/>
                </a:moveTo>
                <a:lnTo>
                  <a:pt x="5236664" y="0"/>
                </a:lnTo>
                <a:lnTo>
                  <a:pt x="5236664" y="2260996"/>
                </a:lnTo>
                <a:lnTo>
                  <a:pt x="0" y="226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11" b="-1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2371784" y="4278339"/>
            <a:ext cx="4134430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⚙️</a:t>
            </a:r>
            <a:r>
              <a:rPr lang="en-US" sz="29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Công nghệ chủ đạo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43234" y="4893464"/>
            <a:ext cx="4409780" cy="936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40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XLM-RoBERTa-Base kết hợp Module chuẩn hóa Teencode.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8723"/>
            <a:ext cx="6798231" cy="92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7"/>
              </a:lnSpc>
            </a:pPr>
            <a:r>
              <a:rPr lang="en-US" sz="5999" b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Lý Do Chọn Đề Tài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485900"/>
            <a:ext cx="6798231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Thách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thức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ngôn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ngữ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mạng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xã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hội</a:t>
            </a:r>
            <a:endParaRPr lang="en-US" sz="2999" dirty="0">
              <a:solidFill>
                <a:srgbClr val="3851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838200" y="2311490"/>
            <a:ext cx="10338840" cy="6873680"/>
            <a:chOff x="0" y="0"/>
            <a:chExt cx="13148666" cy="8741766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13148690" cy="8741791"/>
            </a:xfrm>
            <a:custGeom>
              <a:avLst/>
              <a:gdLst/>
              <a:ahLst/>
              <a:cxnLst/>
              <a:rect l="l" t="t" r="r" b="b"/>
              <a:pathLst>
                <a:path w="13148690" h="8741791">
                  <a:moveTo>
                    <a:pt x="0" y="0"/>
                  </a:moveTo>
                  <a:lnTo>
                    <a:pt x="13148690" y="0"/>
                  </a:lnTo>
                  <a:lnTo>
                    <a:pt x="13148690" y="8741791"/>
                  </a:lnTo>
                  <a:lnTo>
                    <a:pt x="0" y="8741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r="-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168983" y="3191347"/>
            <a:ext cx="536372" cy="536372"/>
            <a:chOff x="0" y="0"/>
            <a:chExt cx="715162" cy="7151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5010" cy="715011"/>
            </a:xfrm>
            <a:custGeom>
              <a:avLst/>
              <a:gdLst/>
              <a:ahLst/>
              <a:cxnLst/>
              <a:rect l="l" t="t" r="r" b="b"/>
              <a:pathLst>
                <a:path w="715010" h="715011">
                  <a:moveTo>
                    <a:pt x="0" y="47625"/>
                  </a:moveTo>
                  <a:cubicBezTo>
                    <a:pt x="0" y="21336"/>
                    <a:pt x="21336" y="0"/>
                    <a:pt x="47625" y="0"/>
                  </a:cubicBezTo>
                  <a:lnTo>
                    <a:pt x="667385" y="0"/>
                  </a:lnTo>
                  <a:cubicBezTo>
                    <a:pt x="693674" y="0"/>
                    <a:pt x="715010" y="21336"/>
                    <a:pt x="715010" y="47625"/>
                  </a:cubicBezTo>
                  <a:lnTo>
                    <a:pt x="715010" y="667385"/>
                  </a:lnTo>
                  <a:cubicBezTo>
                    <a:pt x="715010" y="693674"/>
                    <a:pt x="693674" y="715010"/>
                    <a:pt x="667385" y="715010"/>
                  </a:cubicBezTo>
                  <a:lnTo>
                    <a:pt x="47625" y="715010"/>
                  </a:lnTo>
                  <a:cubicBezTo>
                    <a:pt x="21336" y="715137"/>
                    <a:pt x="0" y="693801"/>
                    <a:pt x="0" y="667512"/>
                  </a:cubicBezTo>
                  <a:close/>
                </a:path>
              </a:pathLst>
            </a:custGeom>
            <a:solidFill>
              <a:srgbClr val="F3E7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32065" y="2305345"/>
            <a:ext cx="1920835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Thực trạng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32065" y="3124672"/>
            <a:ext cx="5155935" cy="1927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Sinh viên bày tỏ cảm xúc tự nhiên nhưng kèm theo nhiễu ngôn ngữ (Teencode, viết tắt, biến thể).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168983" y="6880707"/>
            <a:ext cx="536372" cy="536372"/>
            <a:chOff x="0" y="0"/>
            <a:chExt cx="715162" cy="7151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5010" cy="715011"/>
            </a:xfrm>
            <a:custGeom>
              <a:avLst/>
              <a:gdLst/>
              <a:ahLst/>
              <a:cxnLst/>
              <a:rect l="l" t="t" r="r" b="b"/>
              <a:pathLst>
                <a:path w="715010" h="715011">
                  <a:moveTo>
                    <a:pt x="0" y="47625"/>
                  </a:moveTo>
                  <a:cubicBezTo>
                    <a:pt x="0" y="21336"/>
                    <a:pt x="21336" y="0"/>
                    <a:pt x="47625" y="0"/>
                  </a:cubicBezTo>
                  <a:lnTo>
                    <a:pt x="667385" y="0"/>
                  </a:lnTo>
                  <a:cubicBezTo>
                    <a:pt x="693674" y="0"/>
                    <a:pt x="715010" y="21336"/>
                    <a:pt x="715010" y="47625"/>
                  </a:cubicBezTo>
                  <a:lnTo>
                    <a:pt x="715010" y="667385"/>
                  </a:lnTo>
                  <a:cubicBezTo>
                    <a:pt x="715010" y="693674"/>
                    <a:pt x="693674" y="715010"/>
                    <a:pt x="667385" y="715010"/>
                  </a:cubicBezTo>
                  <a:lnTo>
                    <a:pt x="47625" y="715010"/>
                  </a:lnTo>
                  <a:cubicBezTo>
                    <a:pt x="21336" y="715137"/>
                    <a:pt x="0" y="693801"/>
                    <a:pt x="0" y="667512"/>
                  </a:cubicBezTo>
                  <a:close/>
                </a:path>
              </a:pathLst>
            </a:custGeom>
            <a:solidFill>
              <a:srgbClr val="F3E7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32065" y="6031944"/>
            <a:ext cx="1455063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Hạn chế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95264" y="6851857"/>
            <a:ext cx="4678861" cy="144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Mô hình NLP truyền thống giảm sút hiệu năng đáng kể trước văn bản phi chuẩn.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1ED79796-789F-00C1-D0D3-E52CE76AC9E1}"/>
              </a:ext>
            </a:extLst>
          </p:cNvPr>
          <p:cNvSpPr txBox="1"/>
          <p:nvPr/>
        </p:nvSpPr>
        <p:spPr>
          <a:xfrm>
            <a:off x="2616729" y="9459465"/>
            <a:ext cx="6781800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1. Các comment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trên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Confession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150" y="738360"/>
            <a:ext cx="7487250" cy="953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12"/>
              </a:lnSpc>
            </a:pPr>
            <a:r>
              <a:rPr lang="en-US" sz="60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Quy </a:t>
            </a:r>
            <a:r>
              <a:rPr lang="en-US" sz="60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trình</a:t>
            </a:r>
            <a:r>
              <a:rPr lang="en-US" sz="60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60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hệ</a:t>
            </a:r>
            <a:r>
              <a:rPr lang="en-US" sz="60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60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thống</a:t>
            </a:r>
            <a:endParaRPr lang="en-US" sz="6099" b="1" dirty="0">
              <a:solidFill>
                <a:srgbClr val="38512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47150" y="4934090"/>
            <a:ext cx="16193691" cy="872280"/>
            <a:chOff x="0" y="0"/>
            <a:chExt cx="21591588" cy="1163041"/>
          </a:xfrm>
        </p:grpSpPr>
        <p:sp>
          <p:nvSpPr>
            <p:cNvPr id="4" name="Freeform 4" descr="preencoded.png"/>
            <p:cNvSpPr/>
            <p:nvPr/>
          </p:nvSpPr>
          <p:spPr>
            <a:xfrm>
              <a:off x="0" y="0"/>
              <a:ext cx="21591524" cy="1163066"/>
            </a:xfrm>
            <a:custGeom>
              <a:avLst/>
              <a:gdLst/>
              <a:ahLst/>
              <a:cxnLst/>
              <a:rect l="l" t="t" r="r" b="b"/>
              <a:pathLst>
                <a:path w="21591524" h="1163066">
                  <a:moveTo>
                    <a:pt x="0" y="0"/>
                  </a:moveTo>
                  <a:lnTo>
                    <a:pt x="21591524" y="0"/>
                  </a:lnTo>
                  <a:lnTo>
                    <a:pt x="21591524" y="1163066"/>
                  </a:lnTo>
                  <a:lnTo>
                    <a:pt x="0" y="1163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33" b="-23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89950" y="6338287"/>
            <a:ext cx="17108091" cy="521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9"/>
              </a:lnSpc>
            </a:pPr>
            <a:r>
              <a:rPr lang="en-US" sz="26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26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2.Sơ </a:t>
            </a:r>
            <a:r>
              <a:rPr lang="en-US" sz="26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đồ</a:t>
            </a:r>
            <a:r>
              <a:rPr lang="en-US" sz="26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tổng</a:t>
            </a:r>
            <a:r>
              <a:rPr lang="en-US" sz="26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quát</a:t>
            </a:r>
            <a:r>
              <a:rPr lang="en-US" sz="26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của</a:t>
            </a:r>
            <a:r>
              <a:rPr lang="en-US" sz="26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toàn</a:t>
            </a:r>
            <a:r>
              <a:rPr lang="en-US" sz="26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bộ</a:t>
            </a:r>
            <a:r>
              <a:rPr lang="en-US" sz="26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bài</a:t>
            </a:r>
            <a:r>
              <a:rPr lang="en-US" sz="26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toán</a:t>
            </a:r>
            <a:r>
              <a:rPr lang="en-US" sz="26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8733" y="324478"/>
            <a:ext cx="6677739" cy="92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7"/>
              </a:lnSpc>
            </a:pPr>
            <a:r>
              <a:rPr lang="en-US" sz="5999" b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Thu Thập Dữ Liệu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8733" y="1519800"/>
            <a:ext cx="4971931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Thông tin chi tiết tập dữ liệu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91138" y="3345885"/>
            <a:ext cx="11370682" cy="4507582"/>
            <a:chOff x="0" y="0"/>
            <a:chExt cx="13996988" cy="5548706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13996924" cy="5548757"/>
            </a:xfrm>
            <a:custGeom>
              <a:avLst/>
              <a:gdLst/>
              <a:ahLst/>
              <a:cxnLst/>
              <a:rect l="l" t="t" r="r" b="b"/>
              <a:pathLst>
                <a:path w="13996924" h="5548757">
                  <a:moveTo>
                    <a:pt x="0" y="0"/>
                  </a:moveTo>
                  <a:lnTo>
                    <a:pt x="13996924" y="0"/>
                  </a:lnTo>
                  <a:lnTo>
                    <a:pt x="13996924" y="5548757"/>
                  </a:lnTo>
                  <a:lnTo>
                    <a:pt x="0" y="5548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6" b="-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66231" y="2133557"/>
            <a:ext cx="5363166" cy="1495577"/>
            <a:chOff x="0" y="0"/>
            <a:chExt cx="7150887" cy="19941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50862" cy="1994154"/>
            </a:xfrm>
            <a:custGeom>
              <a:avLst/>
              <a:gdLst/>
              <a:ahLst/>
              <a:cxnLst/>
              <a:rect l="l" t="t" r="r" b="b"/>
              <a:pathLst>
                <a:path w="7150862" h="1994154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7099427" y="0"/>
                  </a:lnTo>
                  <a:cubicBezTo>
                    <a:pt x="7127875" y="0"/>
                    <a:pt x="7150862" y="22987"/>
                    <a:pt x="7150862" y="51435"/>
                  </a:cubicBezTo>
                  <a:lnTo>
                    <a:pt x="7150862" y="1942719"/>
                  </a:lnTo>
                  <a:cubicBezTo>
                    <a:pt x="7150862" y="1971167"/>
                    <a:pt x="7127875" y="1994154"/>
                    <a:pt x="7099427" y="1994154"/>
                  </a:cubicBezTo>
                  <a:lnTo>
                    <a:pt x="51435" y="1994154"/>
                  </a:lnTo>
                  <a:cubicBezTo>
                    <a:pt x="22987" y="1994154"/>
                    <a:pt x="0" y="1971167"/>
                    <a:pt x="0" y="1942719"/>
                  </a:cubicBezTo>
                  <a:close/>
                </a:path>
              </a:pathLst>
            </a:custGeom>
            <a:solidFill>
              <a:srgbClr val="F3E7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601140" y="2298720"/>
            <a:ext cx="1343460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b="1" dirty="0" err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Nguồn</a:t>
            </a:r>
            <a:endParaRPr lang="en-US" sz="2999" b="1" dirty="0">
              <a:solidFill>
                <a:srgbClr val="3A363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601140" y="2766160"/>
            <a:ext cx="5106133" cy="86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Fanpage Confession các trường đại học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344108" y="3849953"/>
            <a:ext cx="5363166" cy="1495577"/>
            <a:chOff x="0" y="0"/>
            <a:chExt cx="7150887" cy="19941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50862" cy="1994154"/>
            </a:xfrm>
            <a:custGeom>
              <a:avLst/>
              <a:gdLst/>
              <a:ahLst/>
              <a:cxnLst/>
              <a:rect l="l" t="t" r="r" b="b"/>
              <a:pathLst>
                <a:path w="7150862" h="1994154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7099427" y="0"/>
                  </a:lnTo>
                  <a:cubicBezTo>
                    <a:pt x="7127875" y="0"/>
                    <a:pt x="7150862" y="22987"/>
                    <a:pt x="7150862" y="51435"/>
                  </a:cubicBezTo>
                  <a:lnTo>
                    <a:pt x="7150862" y="1942719"/>
                  </a:lnTo>
                  <a:cubicBezTo>
                    <a:pt x="7150862" y="1971167"/>
                    <a:pt x="7127875" y="1994154"/>
                    <a:pt x="7099427" y="1994154"/>
                  </a:cubicBezTo>
                  <a:lnTo>
                    <a:pt x="51435" y="1994154"/>
                  </a:lnTo>
                  <a:cubicBezTo>
                    <a:pt x="22987" y="1994154"/>
                    <a:pt x="0" y="1971167"/>
                    <a:pt x="0" y="1942719"/>
                  </a:cubicBezTo>
                  <a:close/>
                </a:path>
              </a:pathLst>
            </a:custGeom>
            <a:solidFill>
              <a:srgbClr val="F3E7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601140" y="4063618"/>
            <a:ext cx="1648260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b="1" dirty="0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Công </a:t>
            </a:r>
            <a:r>
              <a:rPr lang="en-US" sz="2999" b="1" dirty="0" err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cụ</a:t>
            </a:r>
            <a:endParaRPr lang="en-US" sz="2999" b="1" dirty="0">
              <a:solidFill>
                <a:srgbClr val="3A363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601140" y="4620288"/>
            <a:ext cx="4849120" cy="4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7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Apify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344108" y="5566387"/>
            <a:ext cx="5363166" cy="1495577"/>
            <a:chOff x="0" y="0"/>
            <a:chExt cx="7150887" cy="19941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50862" cy="1994154"/>
            </a:xfrm>
            <a:custGeom>
              <a:avLst/>
              <a:gdLst/>
              <a:ahLst/>
              <a:cxnLst/>
              <a:rect l="l" t="t" r="r" b="b"/>
              <a:pathLst>
                <a:path w="7150862" h="1994154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7099427" y="0"/>
                  </a:lnTo>
                  <a:cubicBezTo>
                    <a:pt x="7127875" y="0"/>
                    <a:pt x="7150862" y="22987"/>
                    <a:pt x="7150862" y="51435"/>
                  </a:cubicBezTo>
                  <a:lnTo>
                    <a:pt x="7150862" y="1942719"/>
                  </a:lnTo>
                  <a:cubicBezTo>
                    <a:pt x="7150862" y="1971167"/>
                    <a:pt x="7127875" y="1994154"/>
                    <a:pt x="7099427" y="1994154"/>
                  </a:cubicBezTo>
                  <a:lnTo>
                    <a:pt x="51435" y="1994154"/>
                  </a:lnTo>
                  <a:cubicBezTo>
                    <a:pt x="22987" y="1994154"/>
                    <a:pt x="0" y="1971167"/>
                    <a:pt x="0" y="1942719"/>
                  </a:cubicBezTo>
                  <a:close/>
                </a:path>
              </a:pathLst>
            </a:custGeom>
            <a:solidFill>
              <a:srgbClr val="F3E7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601140" y="5780051"/>
            <a:ext cx="1876860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b="1" dirty="0" err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Thời</a:t>
            </a:r>
            <a:r>
              <a:rPr lang="en-US" sz="2999" b="1" dirty="0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999" b="1" dirty="0" err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gian</a:t>
            </a:r>
            <a:endParaRPr lang="en-US" sz="2999" b="1" dirty="0">
              <a:solidFill>
                <a:srgbClr val="3A363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601140" y="6336721"/>
            <a:ext cx="4849120" cy="4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7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13/02/2026 - 15/04/2026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344108" y="7282820"/>
            <a:ext cx="5363166" cy="1495577"/>
            <a:chOff x="0" y="0"/>
            <a:chExt cx="7150887" cy="199410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50862" cy="1994154"/>
            </a:xfrm>
            <a:custGeom>
              <a:avLst/>
              <a:gdLst/>
              <a:ahLst/>
              <a:cxnLst/>
              <a:rect l="l" t="t" r="r" b="b"/>
              <a:pathLst>
                <a:path w="7150862" h="1994154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7099427" y="0"/>
                  </a:lnTo>
                  <a:cubicBezTo>
                    <a:pt x="7127875" y="0"/>
                    <a:pt x="7150862" y="22987"/>
                    <a:pt x="7150862" y="51435"/>
                  </a:cubicBezTo>
                  <a:lnTo>
                    <a:pt x="7150862" y="1942719"/>
                  </a:lnTo>
                  <a:cubicBezTo>
                    <a:pt x="7150862" y="1971167"/>
                    <a:pt x="7127875" y="1994154"/>
                    <a:pt x="7099427" y="1994154"/>
                  </a:cubicBezTo>
                  <a:lnTo>
                    <a:pt x="51435" y="1994154"/>
                  </a:lnTo>
                  <a:cubicBezTo>
                    <a:pt x="22987" y="1994154"/>
                    <a:pt x="0" y="1971167"/>
                    <a:pt x="0" y="1942719"/>
                  </a:cubicBezTo>
                  <a:close/>
                </a:path>
              </a:pathLst>
            </a:custGeom>
            <a:solidFill>
              <a:srgbClr val="F3E7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601140" y="7496485"/>
            <a:ext cx="1648260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b="1" dirty="0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Quy </a:t>
            </a:r>
            <a:r>
              <a:rPr lang="en-US" sz="2999" b="1" dirty="0" err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mô</a:t>
            </a:r>
            <a:endParaRPr lang="en-US" sz="2999" b="1" dirty="0">
              <a:solidFill>
                <a:srgbClr val="3A363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601140" y="8053155"/>
            <a:ext cx="4849120" cy="4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7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28.093 dòng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2C850CE6-6B1B-EC5F-3511-5EDD9D4BBCCA}"/>
              </a:ext>
            </a:extLst>
          </p:cNvPr>
          <p:cNvSpPr txBox="1"/>
          <p:nvPr/>
        </p:nvSpPr>
        <p:spPr>
          <a:xfrm>
            <a:off x="4023058" y="8573218"/>
            <a:ext cx="3673142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3.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gốc</a:t>
            </a:r>
            <a:endParaRPr lang="en-US" sz="2999" dirty="0">
              <a:solidFill>
                <a:srgbClr val="3A3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14800" y="1828036"/>
            <a:ext cx="11087710" cy="7173396"/>
          </a:xfrm>
          <a:custGeom>
            <a:avLst/>
            <a:gdLst/>
            <a:ahLst/>
            <a:cxnLst/>
            <a:rect l="l" t="t" r="r" b="b"/>
            <a:pathLst>
              <a:path w="11087710" h="7173396">
                <a:moveTo>
                  <a:pt x="0" y="0"/>
                </a:moveTo>
                <a:lnTo>
                  <a:pt x="11087710" y="0"/>
                </a:lnTo>
                <a:lnTo>
                  <a:pt x="11087710" y="7173396"/>
                </a:lnTo>
                <a:lnTo>
                  <a:pt x="0" y="7173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4" b="-11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4327"/>
            <a:ext cx="10401300" cy="925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87"/>
              </a:lnSpc>
            </a:pPr>
            <a:r>
              <a:rPr lang="en-US" sz="59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Tiền</a:t>
            </a:r>
            <a:r>
              <a:rPr lang="en-US" sz="59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59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Xử</a:t>
            </a:r>
            <a:r>
              <a:rPr lang="en-US" sz="59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Lý (Preprocessing)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257300"/>
            <a:ext cx="5905500" cy="416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Quy </a:t>
            </a:r>
            <a:r>
              <a:rPr lang="en-US" sz="26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trình</a:t>
            </a:r>
            <a:r>
              <a:rPr lang="en-US" sz="26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làm</a:t>
            </a:r>
            <a:r>
              <a:rPr lang="en-US" sz="26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sạch</a:t>
            </a:r>
            <a:r>
              <a:rPr lang="en-US" sz="26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26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26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văn</a:t>
            </a:r>
            <a:r>
              <a:rPr lang="en-US" sz="26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bản</a:t>
            </a:r>
            <a:endParaRPr lang="en-US" sz="2699" dirty="0">
              <a:solidFill>
                <a:srgbClr val="3851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3F2B1E6A-14A9-2F5F-3E65-7AC2E226F5B0}"/>
              </a:ext>
            </a:extLst>
          </p:cNvPr>
          <p:cNvSpPr txBox="1"/>
          <p:nvPr/>
        </p:nvSpPr>
        <p:spPr>
          <a:xfrm>
            <a:off x="6934200" y="9535276"/>
            <a:ext cx="6409786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4. Pipeline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tiền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xử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lý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endParaRPr lang="en-US" sz="2999" dirty="0">
              <a:solidFill>
                <a:srgbClr val="3A3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5974" y="294950"/>
            <a:ext cx="7678426" cy="925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87"/>
              </a:lnSpc>
            </a:pPr>
            <a:r>
              <a:rPr lang="en-US" sz="59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Xây</a:t>
            </a:r>
            <a:r>
              <a:rPr lang="en-US" sz="59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59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Dựng</a:t>
            </a:r>
            <a:r>
              <a:rPr lang="en-US" sz="59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59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Teencode</a:t>
            </a:r>
            <a:endParaRPr lang="en-US" sz="5999" b="1" dirty="0">
              <a:solidFill>
                <a:srgbClr val="38512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677599"/>
            <a:ext cx="5578673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Tài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nguyên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ngôn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ngữ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phi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chuẩn</a:t>
            </a:r>
            <a:endParaRPr lang="en-US" sz="2999" dirty="0">
              <a:solidFill>
                <a:srgbClr val="3851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435384" y="2602795"/>
            <a:ext cx="7930458" cy="6230988"/>
            <a:chOff x="0" y="0"/>
            <a:chExt cx="10573944" cy="8307984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10573893" cy="8307959"/>
            </a:xfrm>
            <a:custGeom>
              <a:avLst/>
              <a:gdLst/>
              <a:ahLst/>
              <a:cxnLst/>
              <a:rect l="l" t="t" r="r" b="b"/>
              <a:pathLst>
                <a:path w="10573893" h="8307959">
                  <a:moveTo>
                    <a:pt x="0" y="0"/>
                  </a:moveTo>
                  <a:lnTo>
                    <a:pt x="10573893" y="0"/>
                  </a:lnTo>
                  <a:lnTo>
                    <a:pt x="10573893" y="8307959"/>
                  </a:lnTo>
                  <a:lnTo>
                    <a:pt x="0" y="8307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" r="-3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452820" y="3238500"/>
            <a:ext cx="3348780" cy="471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Thông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số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kỹ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thuật</a:t>
            </a:r>
            <a:endParaRPr lang="en-US" sz="2999" dirty="0">
              <a:solidFill>
                <a:srgbClr val="3851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452820" y="4351287"/>
            <a:ext cx="3883371" cy="1963788"/>
            <a:chOff x="0" y="0"/>
            <a:chExt cx="5177828" cy="26183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77790" cy="2618359"/>
            </a:xfrm>
            <a:custGeom>
              <a:avLst/>
              <a:gdLst/>
              <a:ahLst/>
              <a:cxnLst/>
              <a:rect l="l" t="t" r="r" b="b"/>
              <a:pathLst>
                <a:path w="5177790" h="2618359">
                  <a:moveTo>
                    <a:pt x="0" y="52197"/>
                  </a:moveTo>
                  <a:cubicBezTo>
                    <a:pt x="0" y="23368"/>
                    <a:pt x="23368" y="0"/>
                    <a:pt x="52197" y="0"/>
                  </a:cubicBezTo>
                  <a:lnTo>
                    <a:pt x="5125593" y="0"/>
                  </a:lnTo>
                  <a:cubicBezTo>
                    <a:pt x="5154422" y="0"/>
                    <a:pt x="5177790" y="23368"/>
                    <a:pt x="5177790" y="52197"/>
                  </a:cubicBezTo>
                  <a:lnTo>
                    <a:pt x="5177790" y="2566162"/>
                  </a:lnTo>
                  <a:cubicBezTo>
                    <a:pt x="5177790" y="2594991"/>
                    <a:pt x="5154422" y="2618359"/>
                    <a:pt x="5125593" y="2618359"/>
                  </a:cubicBezTo>
                  <a:lnTo>
                    <a:pt x="52197" y="2618359"/>
                  </a:lnTo>
                  <a:cubicBezTo>
                    <a:pt x="23368" y="2618359"/>
                    <a:pt x="0" y="2594991"/>
                    <a:pt x="0" y="2566162"/>
                  </a:cubicBezTo>
                  <a:close/>
                </a:path>
              </a:pathLst>
            </a:custGeom>
            <a:solidFill>
              <a:srgbClr val="FEF5E7"/>
            </a:solidFill>
            <a:ln w="28576" cap="sq">
              <a:solidFill>
                <a:srgbClr val="D9CD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752705" y="4542630"/>
            <a:ext cx="1448695" cy="393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Công </a:t>
            </a:r>
            <a:r>
              <a:rPr lang="en-US" sz="25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cụ</a:t>
            </a:r>
            <a:endParaRPr lang="en-US" sz="2599" dirty="0">
              <a:solidFill>
                <a:srgbClr val="3A3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752705" y="5183534"/>
            <a:ext cx="3283591" cy="83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2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Underthesea + FastText (Cosine &gt; 0.7)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528472" y="4351287"/>
            <a:ext cx="3883371" cy="1963788"/>
            <a:chOff x="0" y="0"/>
            <a:chExt cx="5177828" cy="26183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77790" cy="2618359"/>
            </a:xfrm>
            <a:custGeom>
              <a:avLst/>
              <a:gdLst/>
              <a:ahLst/>
              <a:cxnLst/>
              <a:rect l="l" t="t" r="r" b="b"/>
              <a:pathLst>
                <a:path w="5177790" h="2618359">
                  <a:moveTo>
                    <a:pt x="0" y="52197"/>
                  </a:moveTo>
                  <a:cubicBezTo>
                    <a:pt x="0" y="23368"/>
                    <a:pt x="23368" y="0"/>
                    <a:pt x="52197" y="0"/>
                  </a:cubicBezTo>
                  <a:lnTo>
                    <a:pt x="5125593" y="0"/>
                  </a:lnTo>
                  <a:cubicBezTo>
                    <a:pt x="5154422" y="0"/>
                    <a:pt x="5177790" y="23368"/>
                    <a:pt x="5177790" y="52197"/>
                  </a:cubicBezTo>
                  <a:lnTo>
                    <a:pt x="5177790" y="2566162"/>
                  </a:lnTo>
                  <a:cubicBezTo>
                    <a:pt x="5177790" y="2594991"/>
                    <a:pt x="5154422" y="2618359"/>
                    <a:pt x="5125593" y="2618359"/>
                  </a:cubicBezTo>
                  <a:lnTo>
                    <a:pt x="52197" y="2618359"/>
                  </a:lnTo>
                  <a:cubicBezTo>
                    <a:pt x="23368" y="2618359"/>
                    <a:pt x="0" y="2594991"/>
                    <a:pt x="0" y="2566162"/>
                  </a:cubicBezTo>
                  <a:close/>
                </a:path>
              </a:pathLst>
            </a:custGeom>
            <a:solidFill>
              <a:srgbClr val="FEF5E7"/>
            </a:solidFill>
            <a:ln w="28576" cap="sq">
              <a:solidFill>
                <a:srgbClr val="D9CD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828366" y="4542630"/>
            <a:ext cx="1640234" cy="393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Gán</a:t>
            </a:r>
            <a:r>
              <a:rPr lang="en-US" sz="25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5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nhãn</a:t>
            </a:r>
            <a:endParaRPr lang="en-US" sz="2599" dirty="0">
              <a:solidFill>
                <a:srgbClr val="3A3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774312" y="5210280"/>
            <a:ext cx="3569922" cy="79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21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6 người gán nhãn, độ tương đồng Kappa Cohen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452820" y="6507356"/>
            <a:ext cx="3883371" cy="1581302"/>
            <a:chOff x="0" y="0"/>
            <a:chExt cx="5177828" cy="21084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77790" cy="2108327"/>
            </a:xfrm>
            <a:custGeom>
              <a:avLst/>
              <a:gdLst/>
              <a:ahLst/>
              <a:cxnLst/>
              <a:rect l="l" t="t" r="r" b="b"/>
              <a:pathLst>
                <a:path w="5177790" h="2108327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5125466" y="0"/>
                  </a:lnTo>
                  <a:cubicBezTo>
                    <a:pt x="5154422" y="0"/>
                    <a:pt x="5177790" y="23495"/>
                    <a:pt x="5177790" y="52324"/>
                  </a:cubicBezTo>
                  <a:lnTo>
                    <a:pt x="5177790" y="2056003"/>
                  </a:lnTo>
                  <a:cubicBezTo>
                    <a:pt x="5177790" y="2084959"/>
                    <a:pt x="5154295" y="2108327"/>
                    <a:pt x="5125466" y="2108327"/>
                  </a:cubicBezTo>
                  <a:lnTo>
                    <a:pt x="52324" y="2108327"/>
                  </a:lnTo>
                  <a:cubicBezTo>
                    <a:pt x="23368" y="2108327"/>
                    <a:pt x="0" y="2084832"/>
                    <a:pt x="0" y="2056003"/>
                  </a:cubicBezTo>
                  <a:close/>
                </a:path>
              </a:pathLst>
            </a:custGeom>
            <a:solidFill>
              <a:srgbClr val="FEF5E7"/>
            </a:solidFill>
            <a:ln w="28576" cap="sq">
              <a:solidFill>
                <a:srgbClr val="D9CD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752705" y="6743015"/>
            <a:ext cx="1940965" cy="416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26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26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6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gốc</a:t>
            </a:r>
            <a:endParaRPr lang="en-US" sz="2699" dirty="0">
              <a:solidFill>
                <a:srgbClr val="3A3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752705" y="7330078"/>
            <a:ext cx="3283591" cy="466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8"/>
              </a:lnSpc>
            </a:pPr>
            <a:r>
              <a:rPr lang="en-US" sz="25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4.512 từ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528472" y="6507356"/>
            <a:ext cx="3883371" cy="1581302"/>
            <a:chOff x="0" y="0"/>
            <a:chExt cx="5177828" cy="21084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77790" cy="2108327"/>
            </a:xfrm>
            <a:custGeom>
              <a:avLst/>
              <a:gdLst/>
              <a:ahLst/>
              <a:cxnLst/>
              <a:rect l="l" t="t" r="r" b="b"/>
              <a:pathLst>
                <a:path w="5177790" h="2108327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5125466" y="0"/>
                  </a:lnTo>
                  <a:cubicBezTo>
                    <a:pt x="5154422" y="0"/>
                    <a:pt x="5177790" y="23495"/>
                    <a:pt x="5177790" y="52324"/>
                  </a:cubicBezTo>
                  <a:lnTo>
                    <a:pt x="5177790" y="2056003"/>
                  </a:lnTo>
                  <a:cubicBezTo>
                    <a:pt x="5177790" y="2084959"/>
                    <a:pt x="5154295" y="2108327"/>
                    <a:pt x="5125466" y="2108327"/>
                  </a:cubicBezTo>
                  <a:lnTo>
                    <a:pt x="52324" y="2108327"/>
                  </a:lnTo>
                  <a:cubicBezTo>
                    <a:pt x="23368" y="2108327"/>
                    <a:pt x="0" y="2084832"/>
                    <a:pt x="0" y="2056003"/>
                  </a:cubicBezTo>
                  <a:close/>
                </a:path>
              </a:pathLst>
            </a:custGeom>
            <a:solidFill>
              <a:srgbClr val="FEF5E7"/>
            </a:solidFill>
            <a:ln w="28576" cap="sq">
              <a:solidFill>
                <a:srgbClr val="D9CD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774312" y="6640306"/>
            <a:ext cx="1556861" cy="42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Teencode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78419" y="7140683"/>
            <a:ext cx="3583476" cy="86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777 từ, phân loại theo 6 nhóm</a:t>
            </a:r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10F95201-13E4-6CF9-19E7-604615F64D94}"/>
              </a:ext>
            </a:extLst>
          </p:cNvPr>
          <p:cNvSpPr txBox="1"/>
          <p:nvPr/>
        </p:nvSpPr>
        <p:spPr>
          <a:xfrm>
            <a:off x="1372296" y="9275188"/>
            <a:ext cx="6645781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43"/>
              </a:lnSpc>
            </a:pP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5.</a:t>
            </a:r>
            <a:r>
              <a:rPr lang="en-US" sz="2800" dirty="0">
                <a:solidFill>
                  <a:srgbClr val="3A363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Quy </a:t>
            </a:r>
            <a:r>
              <a:rPr lang="en-US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trình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chuẩn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hóa</a:t>
            </a:r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teencode</a:t>
            </a:r>
            <a:endParaRPr lang="en-US" sz="2800" dirty="0">
              <a:solidFill>
                <a:srgbClr val="3A363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95800" y="1140985"/>
            <a:ext cx="10525250" cy="8318091"/>
          </a:xfrm>
          <a:custGeom>
            <a:avLst/>
            <a:gdLst/>
            <a:ahLst/>
            <a:cxnLst/>
            <a:rect l="l" t="t" r="r" b="b"/>
            <a:pathLst>
              <a:path w="10525250" h="8318091">
                <a:moveTo>
                  <a:pt x="0" y="0"/>
                </a:moveTo>
                <a:lnTo>
                  <a:pt x="10525250" y="0"/>
                </a:lnTo>
                <a:lnTo>
                  <a:pt x="10525250" y="8318091"/>
                </a:lnTo>
                <a:lnTo>
                  <a:pt x="0" y="8318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0" r="-1034" b="-17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78732" y="324478"/>
            <a:ext cx="8465267" cy="925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87"/>
              </a:lnSpc>
            </a:pPr>
            <a:r>
              <a:rPr lang="en-US" sz="59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Các </a:t>
            </a:r>
            <a:r>
              <a:rPr lang="en-US" sz="59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từ</a:t>
            </a:r>
            <a:r>
              <a:rPr lang="en-US" sz="59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59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teencode</a:t>
            </a:r>
            <a:endParaRPr lang="en-US" sz="5999" b="1" dirty="0">
              <a:solidFill>
                <a:srgbClr val="38512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D7184F7-6492-C0FF-162D-C02BDF0E8600}"/>
              </a:ext>
            </a:extLst>
          </p:cNvPr>
          <p:cNvSpPr txBox="1"/>
          <p:nvPr/>
        </p:nvSpPr>
        <p:spPr>
          <a:xfrm>
            <a:off x="6934200" y="9535276"/>
            <a:ext cx="6409786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endParaRPr lang="en-US" sz="2999" dirty="0">
              <a:solidFill>
                <a:srgbClr val="3A3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046A63-7BE8-E193-F424-3B4543093299}"/>
              </a:ext>
            </a:extLst>
          </p:cNvPr>
          <p:cNvSpPr txBox="1"/>
          <p:nvPr/>
        </p:nvSpPr>
        <p:spPr>
          <a:xfrm>
            <a:off x="7086600" y="9687676"/>
            <a:ext cx="6409786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6. Các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ví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dụ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teencode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9290" y="243604"/>
            <a:ext cx="6944439" cy="92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7"/>
              </a:lnSpc>
            </a:pPr>
            <a:r>
              <a:rPr lang="en-US" sz="5999" b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Gán Nhãn Dữ Liệu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89290" y="1316796"/>
            <a:ext cx="6731992" cy="458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899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Phân bổ nhãn và kiểm định chất lượng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43000" y="2247900"/>
            <a:ext cx="6172200" cy="6722304"/>
            <a:chOff x="0" y="0"/>
            <a:chExt cx="6881419" cy="7849794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6881368" cy="7849743"/>
            </a:xfrm>
            <a:custGeom>
              <a:avLst/>
              <a:gdLst/>
              <a:ahLst/>
              <a:cxnLst/>
              <a:rect l="l" t="t" r="r" b="b"/>
              <a:pathLst>
                <a:path w="6881368" h="7849743">
                  <a:moveTo>
                    <a:pt x="0" y="0"/>
                  </a:moveTo>
                  <a:lnTo>
                    <a:pt x="6881368" y="0"/>
                  </a:lnTo>
                  <a:lnTo>
                    <a:pt x="6881368" y="7849743"/>
                  </a:lnTo>
                  <a:lnTo>
                    <a:pt x="0" y="784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" r="-2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328198" y="1631109"/>
            <a:ext cx="4336004" cy="430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Phương </a:t>
            </a:r>
            <a:r>
              <a:rPr lang="en-US" sz="27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pháp</a:t>
            </a:r>
            <a:r>
              <a:rPr lang="en-US" sz="27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gán</a:t>
            </a:r>
            <a:r>
              <a:rPr lang="en-US" sz="27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nhãn</a:t>
            </a:r>
            <a:endParaRPr lang="en-US" sz="2799" dirty="0">
              <a:solidFill>
                <a:srgbClr val="3851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72103" y="2415003"/>
            <a:ext cx="7451127" cy="82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Kết hợp </a:t>
            </a:r>
            <a:r>
              <a:rPr lang="en-US" sz="2399" b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Rule-based</a:t>
            </a: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và </a:t>
            </a:r>
            <a:r>
              <a:rPr lang="en-US" sz="2399" b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Claude API</a:t>
            </a: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để gán nhãn tự động, đảm bảo tính nhất quán và độ chính xác cao.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972103" y="3417287"/>
            <a:ext cx="6721078" cy="4837805"/>
            <a:chOff x="0" y="0"/>
            <a:chExt cx="8961438" cy="6450406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961374" cy="6450457"/>
            </a:xfrm>
            <a:custGeom>
              <a:avLst/>
              <a:gdLst/>
              <a:ahLst/>
              <a:cxnLst/>
              <a:rect l="l" t="t" r="r" b="b"/>
              <a:pathLst>
                <a:path w="8961374" h="6450457">
                  <a:moveTo>
                    <a:pt x="0" y="0"/>
                  </a:moveTo>
                  <a:lnTo>
                    <a:pt x="8961374" y="0"/>
                  </a:lnTo>
                  <a:lnTo>
                    <a:pt x="8961374" y="6450457"/>
                  </a:lnTo>
                  <a:lnTo>
                    <a:pt x="0" y="6450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" r="-1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8">
            <a:extLst>
              <a:ext uri="{FF2B5EF4-FFF2-40B4-BE49-F238E27FC236}">
                <a16:creationId xmlns:a16="http://schemas.microsoft.com/office/drawing/2014/main" id="{5F5DB58F-7875-2AE2-6F90-B9DA035F2FB0}"/>
              </a:ext>
            </a:extLst>
          </p:cNvPr>
          <p:cNvSpPr txBox="1"/>
          <p:nvPr/>
        </p:nvSpPr>
        <p:spPr>
          <a:xfrm>
            <a:off x="1174955" y="9442692"/>
            <a:ext cx="6409786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7. Quy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trình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gán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nhãn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cảm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xúc</a:t>
            </a:r>
            <a:endParaRPr lang="en-US" sz="2999" dirty="0">
              <a:solidFill>
                <a:srgbClr val="3A3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8187" y="315763"/>
            <a:ext cx="14256613" cy="925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87"/>
              </a:lnSpc>
            </a:pPr>
            <a:r>
              <a:rPr lang="en-US" sz="59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Các </a:t>
            </a:r>
            <a:r>
              <a:rPr lang="en-US" sz="59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Mô</a:t>
            </a:r>
            <a:r>
              <a:rPr lang="en-US" sz="59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59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Hình</a:t>
            </a:r>
            <a:r>
              <a:rPr lang="en-US" sz="59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59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Thực</a:t>
            </a:r>
            <a:r>
              <a:rPr lang="en-US" sz="59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5999" b="1" dirty="0" err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Nghiệm</a:t>
            </a:r>
            <a:r>
              <a:rPr lang="en-US" sz="59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(Baseline)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961013" y="2174390"/>
            <a:ext cx="6945659" cy="6527302"/>
            <a:chOff x="0" y="0"/>
            <a:chExt cx="9260878" cy="8703069"/>
          </a:xfrm>
        </p:grpSpPr>
        <p:sp>
          <p:nvSpPr>
            <p:cNvPr id="4" name="Freeform 4" descr="preencoded.png"/>
            <p:cNvSpPr/>
            <p:nvPr/>
          </p:nvSpPr>
          <p:spPr>
            <a:xfrm>
              <a:off x="0" y="0"/>
              <a:ext cx="9260840" cy="8703056"/>
            </a:xfrm>
            <a:custGeom>
              <a:avLst/>
              <a:gdLst/>
              <a:ahLst/>
              <a:cxnLst/>
              <a:rect l="l" t="t" r="r" b="b"/>
              <a:pathLst>
                <a:path w="9260840" h="8703056">
                  <a:moveTo>
                    <a:pt x="0" y="0"/>
                  </a:moveTo>
                  <a:lnTo>
                    <a:pt x="9260840" y="0"/>
                  </a:lnTo>
                  <a:lnTo>
                    <a:pt x="9260840" y="8703056"/>
                  </a:lnTo>
                  <a:lnTo>
                    <a:pt x="0" y="8703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" r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882733" y="1599938"/>
            <a:ext cx="3966867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Nhóm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Deep Learning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854158" y="2423074"/>
            <a:ext cx="5041554" cy="827484"/>
            <a:chOff x="0" y="0"/>
            <a:chExt cx="6722072" cy="11033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21983" cy="1103249"/>
            </a:xfrm>
            <a:custGeom>
              <a:avLst/>
              <a:gdLst/>
              <a:ahLst/>
              <a:cxnLst/>
              <a:rect l="l" t="t" r="r" b="b"/>
              <a:pathLst>
                <a:path w="6721983" h="1103249">
                  <a:moveTo>
                    <a:pt x="0" y="47625"/>
                  </a:moveTo>
                  <a:cubicBezTo>
                    <a:pt x="0" y="21336"/>
                    <a:pt x="21336" y="0"/>
                    <a:pt x="47625" y="0"/>
                  </a:cubicBezTo>
                  <a:lnTo>
                    <a:pt x="6674358" y="0"/>
                  </a:lnTo>
                  <a:cubicBezTo>
                    <a:pt x="6700647" y="0"/>
                    <a:pt x="6721983" y="21336"/>
                    <a:pt x="6721983" y="47625"/>
                  </a:cubicBezTo>
                  <a:lnTo>
                    <a:pt x="6721983" y="1055624"/>
                  </a:lnTo>
                  <a:cubicBezTo>
                    <a:pt x="6721983" y="1081913"/>
                    <a:pt x="6700647" y="1103249"/>
                    <a:pt x="6674358" y="1103249"/>
                  </a:cubicBezTo>
                  <a:lnTo>
                    <a:pt x="47625" y="1103249"/>
                  </a:lnTo>
                  <a:cubicBezTo>
                    <a:pt x="21336" y="1103249"/>
                    <a:pt x="0" y="1081913"/>
                    <a:pt x="0" y="1055624"/>
                  </a:cubicBezTo>
                  <a:close/>
                </a:path>
              </a:pathLst>
            </a:custGeom>
            <a:solidFill>
              <a:srgbClr val="F3E7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092577" y="2553919"/>
            <a:ext cx="3234409" cy="393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XLM-</a:t>
            </a:r>
            <a:r>
              <a:rPr lang="en-US" sz="25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RoBERTa</a:t>
            </a:r>
            <a:r>
              <a:rPr lang="en-US" sz="25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-Base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854158" y="3440459"/>
            <a:ext cx="5041554" cy="827484"/>
            <a:chOff x="0" y="0"/>
            <a:chExt cx="6722072" cy="11033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21983" cy="1103249"/>
            </a:xfrm>
            <a:custGeom>
              <a:avLst/>
              <a:gdLst/>
              <a:ahLst/>
              <a:cxnLst/>
              <a:rect l="l" t="t" r="r" b="b"/>
              <a:pathLst>
                <a:path w="6721983" h="1103249">
                  <a:moveTo>
                    <a:pt x="0" y="47625"/>
                  </a:moveTo>
                  <a:cubicBezTo>
                    <a:pt x="0" y="21336"/>
                    <a:pt x="21336" y="0"/>
                    <a:pt x="47625" y="0"/>
                  </a:cubicBezTo>
                  <a:lnTo>
                    <a:pt x="6674358" y="0"/>
                  </a:lnTo>
                  <a:cubicBezTo>
                    <a:pt x="6700647" y="0"/>
                    <a:pt x="6721983" y="21336"/>
                    <a:pt x="6721983" y="47625"/>
                  </a:cubicBezTo>
                  <a:lnTo>
                    <a:pt x="6721983" y="1055624"/>
                  </a:lnTo>
                  <a:cubicBezTo>
                    <a:pt x="6721983" y="1081913"/>
                    <a:pt x="6700647" y="1103249"/>
                    <a:pt x="6674358" y="1103249"/>
                  </a:cubicBezTo>
                  <a:lnTo>
                    <a:pt x="47625" y="1103249"/>
                  </a:lnTo>
                  <a:cubicBezTo>
                    <a:pt x="21336" y="1103249"/>
                    <a:pt x="0" y="1081913"/>
                    <a:pt x="0" y="1055624"/>
                  </a:cubicBezTo>
                  <a:close/>
                </a:path>
              </a:pathLst>
            </a:custGeom>
            <a:solidFill>
              <a:srgbClr val="F3E7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092578" y="3618523"/>
            <a:ext cx="2385422" cy="393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PhoBERT</a:t>
            </a:r>
            <a:r>
              <a:rPr lang="en-US" sz="25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-Base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854158" y="4457852"/>
            <a:ext cx="5041554" cy="827484"/>
            <a:chOff x="0" y="0"/>
            <a:chExt cx="6722072" cy="11033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721983" cy="1103249"/>
            </a:xfrm>
            <a:custGeom>
              <a:avLst/>
              <a:gdLst/>
              <a:ahLst/>
              <a:cxnLst/>
              <a:rect l="l" t="t" r="r" b="b"/>
              <a:pathLst>
                <a:path w="6721983" h="1103249">
                  <a:moveTo>
                    <a:pt x="0" y="47625"/>
                  </a:moveTo>
                  <a:cubicBezTo>
                    <a:pt x="0" y="21336"/>
                    <a:pt x="21336" y="0"/>
                    <a:pt x="47625" y="0"/>
                  </a:cubicBezTo>
                  <a:lnTo>
                    <a:pt x="6674358" y="0"/>
                  </a:lnTo>
                  <a:cubicBezTo>
                    <a:pt x="6700647" y="0"/>
                    <a:pt x="6721983" y="21336"/>
                    <a:pt x="6721983" y="47625"/>
                  </a:cubicBezTo>
                  <a:lnTo>
                    <a:pt x="6721983" y="1055624"/>
                  </a:lnTo>
                  <a:cubicBezTo>
                    <a:pt x="6721983" y="1081913"/>
                    <a:pt x="6700647" y="1103249"/>
                    <a:pt x="6674358" y="1103249"/>
                  </a:cubicBezTo>
                  <a:lnTo>
                    <a:pt x="47625" y="1103249"/>
                  </a:lnTo>
                  <a:cubicBezTo>
                    <a:pt x="21336" y="1103249"/>
                    <a:pt x="0" y="1081913"/>
                    <a:pt x="0" y="1055624"/>
                  </a:cubicBezTo>
                  <a:close/>
                </a:path>
              </a:pathLst>
            </a:custGeom>
            <a:solidFill>
              <a:srgbClr val="F3E7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092577" y="4701565"/>
            <a:ext cx="1491625" cy="393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VisoBERT</a:t>
            </a:r>
            <a:endParaRPr lang="en-US" sz="2599" dirty="0">
              <a:solidFill>
                <a:srgbClr val="3A3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1854158" y="5475237"/>
            <a:ext cx="5041554" cy="827484"/>
            <a:chOff x="0" y="0"/>
            <a:chExt cx="6722072" cy="11033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721983" cy="1103249"/>
            </a:xfrm>
            <a:custGeom>
              <a:avLst/>
              <a:gdLst/>
              <a:ahLst/>
              <a:cxnLst/>
              <a:rect l="l" t="t" r="r" b="b"/>
              <a:pathLst>
                <a:path w="6721983" h="1103249">
                  <a:moveTo>
                    <a:pt x="0" y="47625"/>
                  </a:moveTo>
                  <a:cubicBezTo>
                    <a:pt x="0" y="21336"/>
                    <a:pt x="21336" y="0"/>
                    <a:pt x="47625" y="0"/>
                  </a:cubicBezTo>
                  <a:lnTo>
                    <a:pt x="6674358" y="0"/>
                  </a:lnTo>
                  <a:cubicBezTo>
                    <a:pt x="6700647" y="0"/>
                    <a:pt x="6721983" y="21336"/>
                    <a:pt x="6721983" y="47625"/>
                  </a:cubicBezTo>
                  <a:lnTo>
                    <a:pt x="6721983" y="1055624"/>
                  </a:lnTo>
                  <a:cubicBezTo>
                    <a:pt x="6721983" y="1081913"/>
                    <a:pt x="6700647" y="1103249"/>
                    <a:pt x="6674358" y="1103249"/>
                  </a:cubicBezTo>
                  <a:lnTo>
                    <a:pt x="47625" y="1103249"/>
                  </a:lnTo>
                  <a:cubicBezTo>
                    <a:pt x="21336" y="1103249"/>
                    <a:pt x="0" y="1081913"/>
                    <a:pt x="0" y="1055624"/>
                  </a:cubicBezTo>
                  <a:close/>
                </a:path>
              </a:pathLst>
            </a:custGeom>
            <a:solidFill>
              <a:srgbClr val="F3E7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092578" y="5791639"/>
            <a:ext cx="2385422" cy="393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mDeBERTa-v3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82733" y="7784159"/>
            <a:ext cx="5041554" cy="82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Nhóm Machine Learning Truyền Thống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882733" y="6597996"/>
            <a:ext cx="5041554" cy="827484"/>
            <a:chOff x="0" y="0"/>
            <a:chExt cx="6722072" cy="11033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721983" cy="1103249"/>
            </a:xfrm>
            <a:custGeom>
              <a:avLst/>
              <a:gdLst/>
              <a:ahLst/>
              <a:cxnLst/>
              <a:rect l="l" t="t" r="r" b="b"/>
              <a:pathLst>
                <a:path w="6721983" h="1103249">
                  <a:moveTo>
                    <a:pt x="0" y="47625"/>
                  </a:moveTo>
                  <a:cubicBezTo>
                    <a:pt x="0" y="21336"/>
                    <a:pt x="21336" y="0"/>
                    <a:pt x="47625" y="0"/>
                  </a:cubicBezTo>
                  <a:lnTo>
                    <a:pt x="6674358" y="0"/>
                  </a:lnTo>
                  <a:cubicBezTo>
                    <a:pt x="6700647" y="0"/>
                    <a:pt x="6721983" y="21336"/>
                    <a:pt x="6721983" y="47625"/>
                  </a:cubicBezTo>
                  <a:lnTo>
                    <a:pt x="6721983" y="1055624"/>
                  </a:lnTo>
                  <a:cubicBezTo>
                    <a:pt x="6721983" y="1081913"/>
                    <a:pt x="6700647" y="1103249"/>
                    <a:pt x="6674358" y="1103249"/>
                  </a:cubicBezTo>
                  <a:lnTo>
                    <a:pt x="47625" y="1103249"/>
                  </a:lnTo>
                  <a:cubicBezTo>
                    <a:pt x="21336" y="1103249"/>
                    <a:pt x="0" y="1081913"/>
                    <a:pt x="0" y="1055624"/>
                  </a:cubicBezTo>
                  <a:close/>
                </a:path>
              </a:pathLst>
            </a:custGeom>
            <a:solidFill>
              <a:srgbClr val="F3E7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135450" y="6658851"/>
            <a:ext cx="1580550" cy="393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CNN Text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854158" y="8949176"/>
            <a:ext cx="5070129" cy="913209"/>
            <a:chOff x="0" y="0"/>
            <a:chExt cx="6760172" cy="121761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60210" cy="1217676"/>
            </a:xfrm>
            <a:custGeom>
              <a:avLst/>
              <a:gdLst/>
              <a:ahLst/>
              <a:cxnLst/>
              <a:rect l="l" t="t" r="r" b="b"/>
              <a:pathLst>
                <a:path w="6760210" h="1217676">
                  <a:moveTo>
                    <a:pt x="0" y="49276"/>
                  </a:moveTo>
                  <a:cubicBezTo>
                    <a:pt x="0" y="22098"/>
                    <a:pt x="22098" y="0"/>
                    <a:pt x="49276" y="0"/>
                  </a:cubicBezTo>
                  <a:lnTo>
                    <a:pt x="6710934" y="0"/>
                  </a:lnTo>
                  <a:cubicBezTo>
                    <a:pt x="6738112" y="0"/>
                    <a:pt x="6760210" y="22098"/>
                    <a:pt x="6760210" y="49276"/>
                  </a:cubicBezTo>
                  <a:lnTo>
                    <a:pt x="6760210" y="1168400"/>
                  </a:lnTo>
                  <a:cubicBezTo>
                    <a:pt x="6760210" y="1195578"/>
                    <a:pt x="6738112" y="1217676"/>
                    <a:pt x="6710934" y="1217676"/>
                  </a:cubicBezTo>
                  <a:lnTo>
                    <a:pt x="49276" y="1217676"/>
                  </a:lnTo>
                  <a:cubicBezTo>
                    <a:pt x="22098" y="1217676"/>
                    <a:pt x="0" y="1195578"/>
                    <a:pt x="0" y="1168400"/>
                  </a:cubicBezTo>
                  <a:close/>
                </a:path>
              </a:pathLst>
            </a:custGeom>
            <a:solidFill>
              <a:srgbClr val="FEF5E7"/>
            </a:solidFill>
            <a:ln w="28576" cap="sq">
              <a:solidFill>
                <a:srgbClr val="D9CDB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135450" y="9169738"/>
            <a:ext cx="2342550" cy="393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5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SVM + TF-IDF</a:t>
            </a: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60A85DE2-0F04-7845-65B6-0D2A5F39DC4B}"/>
              </a:ext>
            </a:extLst>
          </p:cNvPr>
          <p:cNvSpPr txBox="1"/>
          <p:nvPr/>
        </p:nvSpPr>
        <p:spPr>
          <a:xfrm>
            <a:off x="4800600" y="9366651"/>
            <a:ext cx="6409786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8. Các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mô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endParaRPr lang="en-US" sz="2999" dirty="0">
              <a:solidFill>
                <a:srgbClr val="3A3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42232" y="380033"/>
            <a:ext cx="5428893" cy="92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7"/>
              </a:lnSpc>
            </a:pPr>
            <a:r>
              <a:rPr lang="en-US" sz="5999" b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Kết Quả Train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27945" y="1438833"/>
            <a:ext cx="7341394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Đánh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giá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tác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động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của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Module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chuẩn</a:t>
            </a:r>
            <a:r>
              <a:rPr lang="en-US" sz="2999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hóa</a:t>
            </a:r>
            <a:endParaRPr lang="en-US" sz="2999" dirty="0">
              <a:solidFill>
                <a:srgbClr val="3851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32707" y="2402234"/>
            <a:ext cx="16422586" cy="428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So sánh các chỉ số </a:t>
            </a:r>
            <a:r>
              <a:rPr lang="en-US" sz="2399" b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Accuracy</a:t>
            </a: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và </a:t>
            </a:r>
            <a:r>
              <a:rPr lang="en-US" sz="2399" b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F1-score</a:t>
            </a: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 khi áp dụng Module chuẩn hóa Teencode trên các mô hình thực nghiệm.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27945" y="3804199"/>
            <a:ext cx="16432111" cy="4975031"/>
            <a:chOff x="0" y="0"/>
            <a:chExt cx="21909481" cy="66333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09404" cy="6633211"/>
            </a:xfrm>
            <a:custGeom>
              <a:avLst/>
              <a:gdLst/>
              <a:ahLst/>
              <a:cxnLst/>
              <a:rect l="l" t="t" r="r" b="b"/>
              <a:pathLst>
                <a:path w="21909404" h="6633211">
                  <a:moveTo>
                    <a:pt x="0" y="53340"/>
                  </a:moveTo>
                  <a:cubicBezTo>
                    <a:pt x="0" y="23876"/>
                    <a:pt x="23876" y="0"/>
                    <a:pt x="53340" y="0"/>
                  </a:cubicBezTo>
                  <a:lnTo>
                    <a:pt x="21856064" y="0"/>
                  </a:lnTo>
                  <a:cubicBezTo>
                    <a:pt x="21885529" y="0"/>
                    <a:pt x="21909404" y="23876"/>
                    <a:pt x="21909404" y="53340"/>
                  </a:cubicBezTo>
                  <a:lnTo>
                    <a:pt x="21909404" y="6579870"/>
                  </a:lnTo>
                  <a:cubicBezTo>
                    <a:pt x="21909404" y="6609335"/>
                    <a:pt x="21885529" y="6633211"/>
                    <a:pt x="21856064" y="6633211"/>
                  </a:cubicBezTo>
                  <a:lnTo>
                    <a:pt x="53340" y="6633211"/>
                  </a:lnTo>
                  <a:cubicBezTo>
                    <a:pt x="23876" y="6633211"/>
                    <a:pt x="0" y="6609335"/>
                    <a:pt x="0" y="657987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357" b="-14360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42232" y="3804199"/>
            <a:ext cx="16403536" cy="706641"/>
            <a:chOff x="0" y="0"/>
            <a:chExt cx="21871381" cy="9421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871432" cy="942213"/>
            </a:xfrm>
            <a:custGeom>
              <a:avLst/>
              <a:gdLst/>
              <a:ahLst/>
              <a:cxnLst/>
              <a:rect l="l" t="t" r="r" b="b"/>
              <a:pathLst>
                <a:path w="21871432" h="942213">
                  <a:moveTo>
                    <a:pt x="0" y="0"/>
                  </a:moveTo>
                  <a:lnTo>
                    <a:pt x="21871432" y="0"/>
                  </a:lnTo>
                  <a:lnTo>
                    <a:pt x="21871432" y="942213"/>
                  </a:lnTo>
                  <a:lnTo>
                    <a:pt x="0" y="942213"/>
                  </a:lnTo>
                  <a:close/>
                </a:path>
              </a:pathLst>
            </a:custGeom>
            <a:solidFill>
              <a:srgbClr val="FEF5E7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08932" y="3884562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 b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Mô hình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14502" y="3884562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 b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Accuracy (%)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15310" y="3884562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 b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Macro-F1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16127" y="3884562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 b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ROC-AUC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42232" y="4525118"/>
            <a:ext cx="16403536" cy="706641"/>
            <a:chOff x="0" y="0"/>
            <a:chExt cx="21871381" cy="94218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871432" cy="942213"/>
            </a:xfrm>
            <a:custGeom>
              <a:avLst/>
              <a:gdLst/>
              <a:ahLst/>
              <a:cxnLst/>
              <a:rect l="l" t="t" r="r" b="b"/>
              <a:pathLst>
                <a:path w="21871432" h="942213">
                  <a:moveTo>
                    <a:pt x="0" y="0"/>
                  </a:moveTo>
                  <a:lnTo>
                    <a:pt x="21871432" y="0"/>
                  </a:lnTo>
                  <a:lnTo>
                    <a:pt x="21871432" y="942213"/>
                  </a:lnTo>
                  <a:lnTo>
                    <a:pt x="0" y="942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08932" y="4591202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 b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XLM-RoBERTa-Base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14502" y="4591202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 b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92,10%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15310" y="4591202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 b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0,9221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16127" y="4591202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 b="1">
                <a:solidFill>
                  <a:srgbClr val="3A36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0,9799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42232" y="5231759"/>
            <a:ext cx="16403536" cy="706641"/>
            <a:chOff x="0" y="0"/>
            <a:chExt cx="21871381" cy="9421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871432" cy="942213"/>
            </a:xfrm>
            <a:custGeom>
              <a:avLst/>
              <a:gdLst/>
              <a:ahLst/>
              <a:cxnLst/>
              <a:rect l="l" t="t" r="r" b="b"/>
              <a:pathLst>
                <a:path w="21871432" h="942213">
                  <a:moveTo>
                    <a:pt x="0" y="0"/>
                  </a:moveTo>
                  <a:lnTo>
                    <a:pt x="21871432" y="0"/>
                  </a:lnTo>
                  <a:lnTo>
                    <a:pt x="21871432" y="942213"/>
                  </a:lnTo>
                  <a:lnTo>
                    <a:pt x="0" y="942213"/>
                  </a:lnTo>
                  <a:close/>
                </a:path>
              </a:pathLst>
            </a:custGeom>
            <a:solidFill>
              <a:srgbClr val="FEF5E7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08932" y="5297834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PhoBERT-Base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14502" y="5297834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91,81%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15310" y="5297834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0,9196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16127" y="5297834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0,9773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42232" y="5938390"/>
            <a:ext cx="16403536" cy="706641"/>
            <a:chOff x="0" y="0"/>
            <a:chExt cx="21871381" cy="94218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871432" cy="942213"/>
            </a:xfrm>
            <a:custGeom>
              <a:avLst/>
              <a:gdLst/>
              <a:ahLst/>
              <a:cxnLst/>
              <a:rect l="l" t="t" r="r" b="b"/>
              <a:pathLst>
                <a:path w="21871432" h="942213">
                  <a:moveTo>
                    <a:pt x="0" y="0"/>
                  </a:moveTo>
                  <a:lnTo>
                    <a:pt x="21871432" y="0"/>
                  </a:lnTo>
                  <a:lnTo>
                    <a:pt x="21871432" y="942213"/>
                  </a:lnTo>
                  <a:lnTo>
                    <a:pt x="0" y="942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08932" y="6004474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VisoBERT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14502" y="6004474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90,25%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15310" y="6004474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0,9037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16127" y="6004474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0,9756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42232" y="6645031"/>
            <a:ext cx="16403536" cy="706641"/>
            <a:chOff x="0" y="0"/>
            <a:chExt cx="21871381" cy="94218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871432" cy="942213"/>
            </a:xfrm>
            <a:custGeom>
              <a:avLst/>
              <a:gdLst/>
              <a:ahLst/>
              <a:cxnLst/>
              <a:rect l="l" t="t" r="r" b="b"/>
              <a:pathLst>
                <a:path w="21871432" h="942213">
                  <a:moveTo>
                    <a:pt x="0" y="0"/>
                  </a:moveTo>
                  <a:lnTo>
                    <a:pt x="21871432" y="0"/>
                  </a:lnTo>
                  <a:lnTo>
                    <a:pt x="21871432" y="942213"/>
                  </a:lnTo>
                  <a:lnTo>
                    <a:pt x="0" y="942213"/>
                  </a:lnTo>
                  <a:close/>
                </a:path>
              </a:pathLst>
            </a:custGeom>
            <a:solidFill>
              <a:srgbClr val="FEF5E7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08932" y="6711105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CNN Text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14502" y="6711105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89,64%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15310" y="6711105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0,8961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516127" y="6711105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0,9749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42232" y="7351662"/>
            <a:ext cx="16403536" cy="706641"/>
            <a:chOff x="0" y="0"/>
            <a:chExt cx="21871381" cy="94218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871432" cy="942213"/>
            </a:xfrm>
            <a:custGeom>
              <a:avLst/>
              <a:gdLst/>
              <a:ahLst/>
              <a:cxnLst/>
              <a:rect l="l" t="t" r="r" b="b"/>
              <a:pathLst>
                <a:path w="21871432" h="942213">
                  <a:moveTo>
                    <a:pt x="0" y="0"/>
                  </a:moveTo>
                  <a:lnTo>
                    <a:pt x="21871432" y="0"/>
                  </a:lnTo>
                  <a:lnTo>
                    <a:pt x="21871432" y="942213"/>
                  </a:lnTo>
                  <a:lnTo>
                    <a:pt x="0" y="9422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08932" y="7417746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SVM + TF-IDF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14502" y="7417746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88,15%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15310" y="7417746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0,8817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516127" y="7417746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0,9718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42232" y="8058302"/>
            <a:ext cx="16403536" cy="706641"/>
            <a:chOff x="0" y="0"/>
            <a:chExt cx="21871381" cy="94218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871432" cy="942213"/>
            </a:xfrm>
            <a:custGeom>
              <a:avLst/>
              <a:gdLst/>
              <a:ahLst/>
              <a:cxnLst/>
              <a:rect l="l" t="t" r="r" b="b"/>
              <a:pathLst>
                <a:path w="21871432" h="942213">
                  <a:moveTo>
                    <a:pt x="0" y="0"/>
                  </a:moveTo>
                  <a:lnTo>
                    <a:pt x="21871432" y="0"/>
                  </a:lnTo>
                  <a:lnTo>
                    <a:pt x="21871432" y="942213"/>
                  </a:lnTo>
                  <a:lnTo>
                    <a:pt x="0" y="942213"/>
                  </a:lnTo>
                  <a:close/>
                </a:path>
              </a:pathLst>
            </a:custGeom>
            <a:solidFill>
              <a:srgbClr val="FEF5E7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08932" y="8124377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mDeBERTa-v3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14502" y="8124377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37,72%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15310" y="8124377"/>
            <a:ext cx="4472883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0,1826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516127" y="8124377"/>
            <a:ext cx="4477645" cy="49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26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0,5986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33800" y="1412807"/>
            <a:ext cx="11468228" cy="8403725"/>
            <a:chOff x="0" y="0"/>
            <a:chExt cx="15290971" cy="112049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90936" cy="11204919"/>
            </a:xfrm>
            <a:custGeom>
              <a:avLst/>
              <a:gdLst/>
              <a:ahLst/>
              <a:cxnLst/>
              <a:rect l="l" t="t" r="r" b="b"/>
              <a:pathLst>
                <a:path w="15290936" h="11204919">
                  <a:moveTo>
                    <a:pt x="0" y="0"/>
                  </a:moveTo>
                  <a:lnTo>
                    <a:pt x="15290936" y="0"/>
                  </a:lnTo>
                  <a:lnTo>
                    <a:pt x="15290936" y="11204919"/>
                  </a:lnTo>
                  <a:lnTo>
                    <a:pt x="0" y="11204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3" r="-36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03878" y="620077"/>
            <a:ext cx="7674650" cy="78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 b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KẾT QUẢ THỰC NGHIỆM 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B7D04242-4782-B20C-7485-96DD70D4CFFA}"/>
              </a:ext>
            </a:extLst>
          </p:cNvPr>
          <p:cNvSpPr txBox="1"/>
          <p:nvPr/>
        </p:nvSpPr>
        <p:spPr>
          <a:xfrm>
            <a:off x="6705600" y="9816532"/>
            <a:ext cx="6409786" cy="455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43"/>
              </a:lnSpc>
            </a:pP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9. Các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kết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quả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thực</a:t>
            </a:r>
            <a:r>
              <a:rPr lang="en-US" sz="2999" dirty="0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99" dirty="0" err="1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nghiệm</a:t>
            </a:r>
            <a:endParaRPr lang="en-US" sz="2999" dirty="0">
              <a:solidFill>
                <a:srgbClr val="3A3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86101" y="3808809"/>
            <a:ext cx="2453299" cy="925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sz="59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81738" y="4808487"/>
            <a:ext cx="6519862" cy="687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91"/>
              </a:lnSpc>
            </a:pPr>
            <a:r>
              <a:rPr lang="en-US" sz="4400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Ứng</a:t>
            </a:r>
            <a:r>
              <a:rPr lang="en-US" sz="4400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400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dụng</a:t>
            </a:r>
            <a:r>
              <a:rPr lang="en-US" sz="4400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400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SentraDash</a:t>
            </a:r>
            <a:endParaRPr lang="en-US" sz="4400" dirty="0">
              <a:solidFill>
                <a:srgbClr val="38512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39207" y="571500"/>
            <a:ext cx="10932200" cy="92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7"/>
              </a:lnSpc>
            </a:pPr>
            <a:r>
              <a:rPr lang="en-US" sz="5999" b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Hướng phát triển và hạn chế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40255"/>
            <a:ext cx="7176607" cy="734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48"/>
              </a:lnSpc>
            </a:pPr>
            <a:r>
              <a:rPr lang="en-US" sz="4505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HẠN CHẾ</a:t>
            </a:r>
          </a:p>
          <a:p>
            <a:pPr marL="0" lvl="0" indent="0" algn="l">
              <a:lnSpc>
                <a:spcPts val="4720"/>
              </a:lnSpc>
            </a:pP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điển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teencode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tĩnh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→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dễ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lỗi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thời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tăng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các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ngoài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điển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khi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xuất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hiện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mới</a:t>
            </a:r>
            <a:endParaRPr lang="en-US" sz="3105" dirty="0">
              <a:solidFill>
                <a:srgbClr val="10265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4720"/>
              </a:lnSpc>
            </a:pP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chưa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đa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dạng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→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chủ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yếu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sinh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viên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TP.HCM,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chưa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đại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diện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toàn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quốc</a:t>
            </a:r>
            <a:endParaRPr lang="en-US" sz="3105" dirty="0">
              <a:solidFill>
                <a:srgbClr val="10265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4720"/>
              </a:lnSpc>
            </a:pP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Hệ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thống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nhãn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đơn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giản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→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chỉ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gồm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tích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cực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tiêu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cực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trung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tính</a:t>
            </a:r>
            <a:endParaRPr lang="en-US" sz="3105" dirty="0">
              <a:solidFill>
                <a:srgbClr val="10265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4720"/>
              </a:lnSpc>
            </a:pP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Chưa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có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ablation study →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chưa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đánh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giá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rõ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tác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động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của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chuẩn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hóa</a:t>
            </a:r>
            <a:r>
              <a:rPr lang="en-US" sz="31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teencode</a:t>
            </a:r>
            <a:endParaRPr lang="en-US" sz="3105" dirty="0">
              <a:solidFill>
                <a:srgbClr val="10265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10800" y="2140255"/>
            <a:ext cx="7176607" cy="74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50"/>
              </a:lnSpc>
            </a:pPr>
            <a:r>
              <a:rPr lang="en-US" sz="4205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HƯỚNG PHÁT TRIỂN</a:t>
            </a:r>
          </a:p>
          <a:p>
            <a:pPr marL="0" lvl="0" indent="0" algn="l">
              <a:lnSpc>
                <a:spcPct val="150000"/>
              </a:lnSpc>
            </a:pP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Xây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dựng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điển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teencode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động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→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tự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cập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nhật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từ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mới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tự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động</a:t>
            </a:r>
            <a:endParaRPr lang="en-US" sz="2905" dirty="0">
              <a:solidFill>
                <a:srgbClr val="10265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ct val="150000"/>
              </a:lnSpc>
            </a:pP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Mở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rộng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→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đa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trường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đại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học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đa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nền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tảng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mạng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xã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hội</a:t>
            </a:r>
            <a:endParaRPr lang="en-US" sz="2905" dirty="0">
              <a:solidFill>
                <a:srgbClr val="10265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ct val="150000"/>
              </a:lnSpc>
            </a:pP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Phân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loại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cảm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xúc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chi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tiết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hơn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→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mở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rộng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nhiều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trạng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thái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cảm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xúc</a:t>
            </a:r>
            <a:endParaRPr lang="en-US" sz="2905" dirty="0">
              <a:solidFill>
                <a:srgbClr val="10265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ct val="150000"/>
              </a:lnSpc>
            </a:pP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Cải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tiến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mô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hình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→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tích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hợp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thông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tin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cảm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xúc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và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teencode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sâu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hơn</a:t>
            </a:r>
            <a:endParaRPr lang="en-US" sz="2905" dirty="0">
              <a:solidFill>
                <a:srgbClr val="10265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ct val="150000"/>
              </a:lnSpc>
            </a:pP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Triển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khai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thực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tế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→ API + dashboard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theo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dõi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cảm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xúc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thời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gian</a:t>
            </a:r>
            <a:r>
              <a:rPr lang="en-US" sz="2905" dirty="0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5" dirty="0" err="1">
                <a:solidFill>
                  <a:srgbClr val="10265D"/>
                </a:solidFill>
                <a:latin typeface="Open Sans"/>
                <a:ea typeface="Open Sans"/>
                <a:cs typeface="Open Sans"/>
                <a:sym typeface="Open Sans"/>
              </a:rPr>
              <a:t>thực</a:t>
            </a:r>
            <a:endParaRPr lang="en-US" sz="2905" dirty="0">
              <a:solidFill>
                <a:srgbClr val="10265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2600" y="571500"/>
            <a:ext cx="8103273" cy="916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363"/>
              </a:lnSpc>
            </a:pPr>
            <a:r>
              <a:rPr lang="en-US" sz="5899" b="1" dirty="0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TÀI LIỆU THAM KHẢO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9201" y="2011728"/>
            <a:ext cx="17389683" cy="5427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0"/>
              </a:lnSpc>
            </a:pP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[1] Nguyen, L. T., &amp; Van Nguyen, K. (2020). A Dataset for Vietnamese Hate Speech Detection on Social Networks. Proceedings of PACLIC 2020.</a:t>
            </a:r>
            <a:r>
              <a:rPr lang="en-US" sz="2399" u="sng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  <a:hlinkClick r:id="rId2" tooltip="https://link.springer.com/chapter/10.1007/978-3-030-79457-6_35"/>
              </a:rPr>
              <a:t>https://link.springer.com/chapter/10.1007/978-3-030-79457-6_35</a:t>
            </a:r>
          </a:p>
          <a:p>
            <a:pPr algn="l">
              <a:lnSpc>
                <a:spcPts val="3340"/>
              </a:lnSpc>
            </a:pP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[2] Nguyen, N., Phan, T., Nguyen, D.-V., &amp; Nguyen, K. (2023). ViSoBERT: A Pre-Trained Language Model for Vietnamese Social Media Text Processing. Proceedings of the 2023 Conference on Empirical Methods in Natural Language Processing (EMNLP), pp. 5191–5207. Singapore: Association for Computational Linguistics.</a:t>
            </a:r>
            <a:r>
              <a:rPr lang="en-US" sz="2399" u="sng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  <a:hlinkClick r:id="rId3" tooltip="https://aclanthology.org/2023.emnlp-main.315"/>
              </a:rPr>
              <a:t> </a:t>
            </a:r>
            <a:r>
              <a:rPr lang="en-US" sz="2399" u="sng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  <a:hlinkClick r:id="rId3" tooltip="https://aclanthology.org/2023.emnlp-main.315"/>
              </a:rPr>
              <a:t>https://aclanthology.org/2023.emnlp-main.315</a:t>
            </a:r>
          </a:p>
          <a:p>
            <a:pPr algn="l">
              <a:lnSpc>
                <a:spcPts val="3340"/>
              </a:lnSpc>
            </a:pP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[3] Vu, X.-S., et al. (2018). Underthesea: Vietnamese NLP Toolkit. GitHub Repository.</a:t>
            </a:r>
            <a:r>
              <a:rPr lang="en-US" sz="2399" u="sng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  <a:hlinkClick r:id="rId4" tooltip="https://github.com/undertheseanlp/underthesea"/>
              </a:rPr>
              <a:t> https://github.com/undertheseanlp/underthesea</a:t>
            </a:r>
          </a:p>
          <a:p>
            <a:pPr algn="l">
              <a:lnSpc>
                <a:spcPts val="3340"/>
              </a:lnSpc>
            </a:pP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[4] Bojanowski, P., Grave, E., Joulin, A., &amp; Mikolov, T. (2017). Enriching Word Vectors with Subword Information. Transactions of the Association for Computational Linguistics, 5, 135–146.</a:t>
            </a:r>
            <a:r>
              <a:rPr lang="en-US" sz="2399" u="sng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  <a:hlinkClick r:id="rId5" tooltip="https://doi.org/10.1162/tacl_a_00051"/>
              </a:rPr>
              <a:t> </a:t>
            </a:r>
            <a:r>
              <a:rPr lang="en-US" sz="2399" u="sng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  <a:hlinkClick r:id="rId5" tooltip="https://doi.org/10.1162/tacl_a_00051"/>
              </a:rPr>
              <a:t>https://doi.org/10.1162/tacl_a_00051</a:t>
            </a:r>
          </a:p>
          <a:p>
            <a:pPr algn="l">
              <a:lnSpc>
                <a:spcPts val="3340"/>
              </a:lnSpc>
            </a:pPr>
            <a:r>
              <a:rPr lang="en-US" sz="2399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</a:rPr>
              <a:t>[5] Liu, B. (2012). Sentiment Analysis and Opinion Mining. Synthesis Lectures on Human Language Technologies, 5(1), 1–167. Morgan &amp; Claypool Publishers.</a:t>
            </a:r>
            <a:r>
              <a:rPr lang="en-US" sz="2399" u="sng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  <a:hlinkClick r:id="rId6" tooltip="https://doi.org/10.2200/S00416ED1V01Y201204HLT016"/>
              </a:rPr>
              <a:t> </a:t>
            </a:r>
            <a:r>
              <a:rPr lang="en-US" sz="2399" u="sng">
                <a:solidFill>
                  <a:srgbClr val="3A3630"/>
                </a:solidFill>
                <a:latin typeface="Open Sans"/>
                <a:ea typeface="Open Sans"/>
                <a:cs typeface="Open Sans"/>
                <a:sym typeface="Open Sans"/>
                <a:hlinkClick r:id="rId6" tooltip="https://doi.org/10.2200/S00416ED1V01Y201204HLT016"/>
              </a:rPr>
              <a:t>https://doi.org/10.2200/S00416ED1V01Y201204HLT016</a:t>
            </a:r>
          </a:p>
          <a:p>
            <a:pPr algn="l">
              <a:lnSpc>
                <a:spcPts val="3340"/>
              </a:lnSpc>
            </a:pPr>
            <a:endParaRPr lang="en-US" sz="2399" u="sng">
              <a:solidFill>
                <a:srgbClr val="3A3630"/>
              </a:solidFill>
              <a:latin typeface="Open Sans"/>
              <a:ea typeface="Open Sans"/>
              <a:cs typeface="Open Sans"/>
              <a:sym typeface="Open Sans"/>
              <a:hlinkClick r:id="rId6" tooltip="https://doi.org/10.2200/S00416ED1V01Y201204HLT016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78778" y="386107"/>
            <a:ext cx="4749046" cy="925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sz="5999" b="1">
                <a:solidFill>
                  <a:srgbClr val="38512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89849" y="1483915"/>
            <a:ext cx="5949751" cy="513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sz="3300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Cảm</a:t>
            </a:r>
            <a:r>
              <a:rPr lang="en-US" sz="3300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ơn</a:t>
            </a:r>
            <a:r>
              <a:rPr lang="en-US" sz="3300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thầy</a:t>
            </a:r>
            <a:r>
              <a:rPr lang="en-US" sz="3300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cô</a:t>
            </a:r>
            <a:r>
              <a:rPr lang="en-US" sz="3300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đã</a:t>
            </a:r>
            <a:r>
              <a:rPr lang="en-US" sz="3300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lắng</a:t>
            </a:r>
            <a:r>
              <a:rPr lang="en-US" sz="3300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00" dirty="0" err="1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nghe</a:t>
            </a:r>
            <a:r>
              <a:rPr lang="en-US" sz="3300" dirty="0">
                <a:solidFill>
                  <a:srgbClr val="38512F"/>
                </a:solidFill>
                <a:latin typeface="Open Sans"/>
                <a:ea typeface="Open Sans"/>
                <a:cs typeface="Open Sans"/>
                <a:sym typeface="Open Sans"/>
              </a:rPr>
              <a:t>!</a:t>
            </a:r>
          </a:p>
        </p:txBody>
      </p:sp>
      <p:pic>
        <p:nvPicPr>
          <p:cNvPr id="4" name="Picture 4" descr="preencoded.png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5716934" y="2480072"/>
            <a:ext cx="6872735" cy="6872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896</Words>
  <Application>Microsoft Office PowerPoint</Application>
  <PresentationFormat>Custom</PresentationFormat>
  <Paragraphs>124</Paragraphs>
  <Slides>16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Open Sans</vt:lpstr>
      <vt:lpstr>Open Sans Bold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XLM-RoBERTa-Base</dc:title>
  <cp:lastModifiedBy>Suong Anh</cp:lastModifiedBy>
  <cp:revision>4</cp:revision>
  <dcterms:created xsi:type="dcterms:W3CDTF">2006-08-16T00:00:00Z</dcterms:created>
  <dcterms:modified xsi:type="dcterms:W3CDTF">2026-06-06T15:10:09Z</dcterms:modified>
  <dc:identifier>DAHLgX0g3B8</dc:identifier>
</cp:coreProperties>
</file>